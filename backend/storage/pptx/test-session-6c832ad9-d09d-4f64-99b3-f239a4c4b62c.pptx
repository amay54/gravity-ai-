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>
                <a:solidFill>
                  <a:srgbClr val="4F46E5"/>
                </a:solidFill>
                <a:latin typeface="Helvetica"/>
              </a:rPr>
              <a:t>Corporate Research Dossier:</a:t>
            </a:r>
          </a:p>
          <a:p>
            <a:r>
              <a:rPr>
                <a:solidFill>
                  <a:srgbClr val="4F46E5"/>
                </a:solidFill>
                <a:latin typeface="Helvetica"/>
              </a:rPr>
              <a:t>Stripe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>
                <a:solidFill>
                  <a:srgbClr val="7C3AED"/>
                </a:solidFill>
                <a:latin typeface="Helvetica"/>
              </a:rPr>
              <a:t>Compiled autonomously via GravityAI Multi-Agent System.</a:t>
            </a:r>
          </a:p>
          <a:p>
            <a:r>
              <a:rPr>
                <a:solidFill>
                  <a:srgbClr val="7C3AED"/>
                </a:solidFill>
                <a:latin typeface="Helvetica"/>
              </a:rPr>
              <a:t>Session ID: test-session-6c832ad9-d09d-4f64-99b3-f239a4c4b62c | Version: v1 | Date: 2026-07-10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4F46E5"/>
                </a:solidFill>
                <a:latin typeface="Helvetica"/>
              </a:rPr>
              <a:t>Executive Summary &amp; Quality Metrics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Key Findings Overview:</a:t>
            </a:r>
          </a:p>
          <a:p>
            <a:pPr lvl="1"/>
            <a:r>
              <a:t>• Description: Stripe is a financial infrastructure platform....</a:t>
            </a:r>
          </a:p>
          <a:p>
            <a:pPr lvl="1"/>
            <a:r>
              <a:t>• Overall Research Quality: 90%</a:t>
            </a:r>
          </a:p>
          <a:p>
            <a:pPr lvl="1"/>
            <a:r>
              <a:t>• Overall Confidence rating: 0%</a:t>
            </a:r>
          </a:p>
          <a:p>
            <a:pPr lvl="1"/>
            <a:r>
              <a:t>• Source coverage: 0 Official | 0 Public Sources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4F46E5"/>
                </a:solidFill>
                <a:latin typeface="Helvetica"/>
              </a:rPr>
              <a:t>Company Profile &amp; Sitemap details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Company Overview for Stripe:</a:t>
            </a:r>
          </a:p>
          <a:p>
            <a:pPr lvl="1"/>
            <a:r>
              <a:t>• HQ Location: South San Francisco, CA</a:t>
            </a:r>
          </a:p>
          <a:p>
            <a:pPr lvl="1"/>
            <a:r>
              <a:t>• Founded Year: 2010</a:t>
            </a:r>
          </a:p>
          <a:p>
            <a:pPr lvl="1"/>
            <a:r>
              <a:t>• Key Leadership: Patrick Collison</a:t>
            </a:r>
          </a:p>
          <a:p>
            <a:pPr lvl="1"/>
            <a:r>
              <a:t>• Sitemap crawled: No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4F46E5"/>
                </a:solidFill>
                <a:latin typeface="Helvetica"/>
              </a:rPr>
              <a:t>Business Model &amp; Segments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Strategic business model parameters:</a:t>
            </a:r>
          </a:p>
          <a:p>
            <a:pPr lvl="1"/>
            <a:r>
              <a:t>• Pricing Model: Not Available</a:t>
            </a:r>
          </a:p>
          <a:p>
            <a:pPr lvl="1"/>
            <a:r>
              <a:t>• Revenue Streams: []</a:t>
            </a:r>
          </a:p>
          <a:p>
            <a:pPr lvl="1"/>
            <a:r>
              <a:t>• Customer Segments: []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4F46E5"/>
                </a:solidFill>
                <a:latin typeface="Helvetica"/>
              </a:rPr>
              <a:t>Financial Highlights &amp; Revenue Growth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Corporate Valuation: $70 Billion</a:t>
            </a:r>
          </a:p>
          <a:p>
            <a:pPr>
              <a:spcBef>
                <a:spcPts val="1200"/>
              </a:spcBef>
            </a:pPr>
            <a:r>
              <a:t>Revenue Trends: ['Growing steadily']</a:t>
            </a:r>
          </a:p>
          <a:p>
            <a:pPr>
              <a:spcBef>
                <a:spcPts val="1200"/>
              </a:spcBef>
            </a:pPr>
            <a:r>
              <a:t>Funding: ['Series I']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4F46E5"/>
                </a:solidFill>
                <a:latin typeface="Helvetica"/>
              </a:rPr>
              <a:t>Technology Stack Profile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Identified technologies:</a:t>
            </a:r>
          </a:p>
          <a:p>
            <a:pPr lvl="1"/>
            <a:r>
              <a:t>• Frontend: ['React']</a:t>
            </a:r>
          </a:p>
          <a:p>
            <a:pPr lvl="1"/>
            <a:r>
              <a:t>• Backend &amp; Servers: ['Ruby']</a:t>
            </a:r>
          </a:p>
          <a:p>
            <a:pPr lvl="1"/>
            <a:r>
              <a:t>• Cloud Providers: []</a:t>
            </a:r>
          </a:p>
          <a:p>
            <a:pPr lvl="1"/>
            <a:r>
              <a:t>• Databases: ['PostgreSQL']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4F46E5"/>
                </a:solidFill>
                <a:latin typeface="Helvetica"/>
              </a:rPr>
              <a:t>Hiring Trajectory &amp; Open Positions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Hiring Velocity: High</a:t>
            </a:r>
          </a:p>
          <a:p>
            <a:pPr>
              <a:spcBef>
                <a:spcPts val="1200"/>
              </a:spcBef>
            </a:pPr>
            <a:r>
              <a:t>Open Roles: ['120']</a:t>
            </a:r>
          </a:p>
          <a:p>
            <a:pPr>
              <a:spcBef>
                <a:spcPts val="1200"/>
              </a:spcBef>
            </a:pPr>
            <a:r>
              <a:t>Growing Areas: ['Engineering']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4F46E5"/>
                </a:solidFill>
              </a:rPr>
              <a:t>Competitor Landscape Matrix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Positioning: Leader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2011680"/>
          <a:ext cx="82296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1828800"/>
                <a:gridCol w="4114800"/>
              </a:tblGrid>
              <a:tr h="1371600">
                <a:tc>
                  <a:txBody>
                    <a:bodyPr/>
                    <a:lstStyle/>
                    <a:p>
                      <a:r>
                        <a:t>Competitor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Market Share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Advantages</a:t>
                      </a:r>
                    </a:p>
                  </a:txBody>
                  <a:tcPr/>
                </a:tc>
              </a:tr>
              <a:tr h="1371600">
                <a:tc>
                  <a:txBody>
                    <a:bodyPr/>
                    <a:lstStyle/>
                    <a:p>
                      <a:r>
                        <a:t>Adyen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acquiring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global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4F46E5"/>
                </a:solidFill>
              </a:rPr>
              <a:t>Patent Filings &amp; Innovation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Patent Count: None</a:t>
            </a:r>
          </a:p>
          <a:p>
            <a:pPr>
              <a:spcBef>
                <a:spcPts val="1200"/>
              </a:spcBef>
            </a:pPr>
            <a:r>
              <a:t>Filing Trend: []</a:t>
            </a:r>
          </a:p>
          <a:p>
            <a:pPr>
              <a:spcBef>
                <a:spcPts val="1200"/>
              </a:spcBef>
            </a:pPr>
            <a:r>
              <a:t>Themes: []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4F46E5"/>
                </a:solidFill>
                <a:latin typeface="Helvetica"/>
              </a:rPr>
              <a:t>SWOT Matrix Evaluation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SWOT Highlights:</a:t>
            </a:r>
          </a:p>
          <a:p>
            <a:pPr lvl="1"/>
            <a:r>
              <a:t>• Strengths: infrastructure</a:t>
            </a:r>
          </a:p>
          <a:p>
            <a:pPr lvl="1"/>
            <a:r>
              <a:t>• Weaknesses: fee margins</a:t>
            </a:r>
          </a:p>
          <a:p>
            <a:pPr lvl="1"/>
            <a:r>
              <a:t>• Opportunities: APAC market</a:t>
            </a:r>
          </a:p>
          <a:p>
            <a:pPr lvl="1"/>
            <a:r>
              <a:t>• Threats: competitor pricing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4F46E5"/>
                </a:solidFill>
                <a:latin typeface="Helvetica"/>
              </a:rPr>
              <a:t>Strategic 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Actionable corporate guidance items:</a:t>
            </a:r>
          </a:p>
          <a:p>
            <a:pPr lvl="1"/>
            <a:r>
              <a:t>• Recommendation 1: Target APAC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>
                <a:solidFill>
                  <a:srgbClr val="4F46E5"/>
                </a:solidFill>
                <a:latin typeface="Helvetica"/>
              </a:rPr>
              <a:t>Thank You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>
                <a:solidFill>
                  <a:srgbClr val="7C3AED"/>
                </a:solidFill>
                <a:latin typeface="Helvetica"/>
              </a:rPr>
              <a:t>GravityAI Enterprise Research Operating System</a:t>
            </a:r>
          </a:p>
          <a:p>
            <a:r>
              <a:rPr>
                <a:solidFill>
                  <a:srgbClr val="7C3AED"/>
                </a:solidFill>
                <a:latin typeface="Helvetica"/>
              </a:rPr>
              <a:t>For inquiries contact research@gravityai.com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