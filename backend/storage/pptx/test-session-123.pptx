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test-session-123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55%</a:t>
            </a:r>
          </a:p>
          <a:p>
            <a:pPr lvl="1"/>
            <a:r>
              <a:t>• Overall Confidence rating: 55%</a:t>
            </a:r>
          </a:p>
          <a:p>
            <a:pPr lvl="1"/>
            <a:r>
              <a:t>• Source coverage: 5 Official | 9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Pay-as-you-go transactional pricing (e.g. 2.9% + 30c)</a:t>
            </a:r>
          </a:p>
          <a:p>
            <a:pPr lvl="1"/>
            <a:r>
              <a:t>• Revenue Streams: ['Transaction Fees', 'SaaS Subscriptions']</a:t>
            </a:r>
          </a:p>
          <a:p>
            <a:pPr lvl="1"/>
            <a:r>
              <a:t>• Customer Segments: ['E-commerce Merchants', 'B2B SaaS Platforms']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$65 Billion</a:t>
            </a:r>
          </a:p>
          <a:p>
            <a:pPr>
              <a:spcBef>
                <a:spcPts val="1200"/>
              </a:spcBef>
            </a:pPr>
            <a:r>
              <a:t>Revenue Trends: ['$10.2B (2023)', '$14.0B (2024)', '$16.5B (2025)']</a:t>
            </a:r>
          </a:p>
          <a:p>
            <a:pPr>
              <a:spcBef>
                <a:spcPts val="1200"/>
              </a:spcBef>
            </a:pPr>
            <a:r>
              <a:t>Funding: ['Series H ($6.5B)', 'Secondary Sale ($1.0B)']</a:t>
            </a:r>
          </a:p>
        </p:txBody>
      </p:sp>
      <p:pic>
        <p:nvPicPr>
          <p:cNvPr id="4" name="Picture 3" descr="b4535d54-6bb4-4b5c-a45d-7347267014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727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['React', 'Next.js', 'TailwindCSS']</a:t>
            </a:r>
          </a:p>
          <a:p>
            <a:pPr lvl="1"/>
            <a:r>
              <a:t>• Backend &amp; Servers: ['Node.js', 'Go', 'Python (FastAPI)']</a:t>
            </a:r>
          </a:p>
          <a:p>
            <a:pPr lvl="1"/>
            <a:r>
              <a:t>• Cloud Providers: ['Amazon Web Services (AWS)', 'Google Cloud Platform (GCP)']</a:t>
            </a:r>
          </a:p>
          <a:p>
            <a:pPr lvl="1"/>
            <a:r>
              <a:t>• Databases: ['PostgreSQL', 'Redis', 'MongoDB']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Moderate hiring velocity. Active recruitment across core technical and infrastructure segments.</a:t>
            </a:r>
          </a:p>
          <a:p>
            <a:pPr>
              <a:spcBef>
                <a:spcPts val="1200"/>
              </a:spcBef>
            </a:pPr>
            <a:r>
              <a:t>Open Roles: ['Staff Software Engineer (APIs)', 'Solutions Architect', 'Technical Program Manager']</a:t>
            </a:r>
          </a:p>
          <a:p>
            <a:pPr>
              <a:spcBef>
                <a:spcPts val="1200"/>
              </a:spcBef>
            </a:pPr>
            <a:r>
              <a:t>Growing Areas: ['Engineering', 'Sales &amp; Solutions', 'Operations']</a:t>
            </a:r>
          </a:p>
        </p:txBody>
      </p:sp>
      <p:pic>
        <p:nvPicPr>
          <p:cNvPr id="4" name="Picture 3" descr="adc6a678-f588-4142-98b6-e818d3973b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415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Competes in global sector.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6858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General 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Alternative peer solution.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PayPal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General 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Alternative peer solution.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Checkout.com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General 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Alternative peer solution.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48</a:t>
            </a:r>
          </a:p>
          <a:p>
            <a:pPr>
              <a:spcBef>
                <a:spcPts val="1200"/>
              </a:spcBef>
            </a:pPr>
            <a:r>
              <a:t>Filing Trend: ['Accelerating filings in tokenization security (2023-2025)', 'Stable growth in database routing algorithms']</a:t>
            </a:r>
          </a:p>
          <a:p>
            <a:pPr>
              <a:spcBef>
                <a:spcPts val="1200"/>
              </a:spcBef>
            </a:pPr>
            <a:r>
              <a:t>Themes: ['Distributed Transaction Processing', 'Tokenized Fraud Detection', 'Mobile API Security']</a:t>
            </a:r>
          </a:p>
        </p:txBody>
      </p:sp>
      <p:pic>
        <p:nvPicPr>
          <p:cNvPr id="4" name="Picture 3" descr="dfeb9339-1c7c-4167-8cc4-d62ad7c46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727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Strong industry footprint, Good product diversification</a:t>
            </a:r>
          </a:p>
          <a:p>
            <a:pPr lvl="1"/>
            <a:r>
              <a:t>• Weaknesses: Geographic concentration</a:t>
            </a:r>
          </a:p>
          <a:p>
            <a:pPr lvl="1"/>
            <a:r>
              <a:t>• Opportunities: Leverage semantic search models</a:t>
            </a:r>
          </a:p>
          <a:p>
            <a:pPr lvl="1"/>
            <a:r>
              <a:t>• Threats: Evolving regulatory landscapes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Investigate alternative distribution API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